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KPI 목표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탐지 정확도</c:v>
                  </c:pt>
                  <c:pt idx="1">
                    <c:v>오탐율</c:v>
                  </c:pt>
                  <c:pt idx="2">
                    <c:v>분석시간(초)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95</c:v>
                </c:pt>
                <c:pt idx="1">
                  <c:v>5</c:v>
                </c:pt>
                <c:pt idx="2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분석 결과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bubble3D val="0"/>
            <c:spPr>
              <a:solidFill>
                <a:srgbClr val="33415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딥페이크</c:v>
                </c:pt>
                <c:pt idx="1">
                  <c:v>정상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94</c:v>
                </c:pt>
                <c:pt idx="1">
                  <c:v>6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322314" y="490835"/>
            <a:ext cx="4499372" cy="364927"/>
          </a:xfrm>
          <a:prstGeom prst="roundRect">
            <a:avLst>
              <a:gd name="adj" fmla="val 69603"/>
            </a:avLst>
          </a:prstGeom>
          <a:solidFill>
            <a:srgbClr val="0EA5E9">
              <a:alpha val="15000"/>
            </a:srgbClr>
          </a:solidFill>
          <a:ln w="9525">
            <a:solidFill>
              <a:srgbClr val="0EA5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585740" y="601861"/>
            <a:ext cx="40519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PREVENTION SERVICE COMPETITION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807272" y="1211312"/>
            <a:ext cx="3529307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5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</a:t>
            </a:r>
            <a:pPr algn="ctr" indent="0" marL="0">
              <a:spcAft>
                <a:spcPts val="1200"/>
              </a:spcAft>
              <a:buNone/>
            </a:pPr>
            <a:r>
              <a:rPr lang="en-US" sz="5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Truth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2807272" y="2182862"/>
            <a:ext cx="352930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0"/>
              </a:spcAft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딥페이크 음성 검증 서비스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010049" y="3297138"/>
            <a:ext cx="1092101" cy="323850"/>
          </a:xfrm>
          <a:prstGeom prst="roundRect">
            <a:avLst>
              <a:gd name="adj" fmla="val 62745"/>
            </a:avLst>
          </a:prstGeom>
          <a:solidFill>
            <a:srgbClr val="10B981">
              <a:alpha val="15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197275" y="3382863"/>
            <a:ext cx="7320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딥페이크 탐지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54550" y="3297138"/>
            <a:ext cx="863501" cy="323850"/>
          </a:xfrm>
          <a:prstGeom prst="roundRect">
            <a:avLst>
              <a:gd name="adj" fmla="val 62745"/>
            </a:avLst>
          </a:prstGeom>
          <a:solidFill>
            <a:srgbClr val="10B981">
              <a:alpha val="15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441775" y="3382863"/>
            <a:ext cx="4988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성문 대조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270450" y="3297138"/>
            <a:ext cx="863501" cy="323850"/>
          </a:xfrm>
          <a:prstGeom prst="roundRect">
            <a:avLst>
              <a:gd name="adj" fmla="val 62745"/>
            </a:avLst>
          </a:prstGeom>
          <a:solidFill>
            <a:srgbClr val="10B981">
              <a:alpha val="15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457676" y="3382863"/>
            <a:ext cx="4988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이중 검증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039076" y="4179689"/>
            <a:ext cx="30658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Truth Team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39076" y="4401889"/>
            <a:ext cx="30658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피싱·스캠 예방을 위한 서비스 개발 경진대회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-91440" y="4695825"/>
            <a:ext cx="93268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98302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688777"/>
            <a:ext cx="9144000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7701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901452"/>
            <a:ext cx="3579168" cy="345877"/>
          </a:xfrm>
          <a:prstGeom prst="roundRect">
            <a:avLst>
              <a:gd name="adj" fmla="val 1468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7950" y="901452"/>
            <a:ext cx="1193750" cy="345877"/>
          </a:xfrm>
          <a:prstGeom prst="rect">
            <a:avLst/>
          </a:prstGeom>
          <a:solidFill>
            <a:srgbClr val="0EA5E9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0350" y="1002953"/>
            <a:ext cx="2072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팀명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854101" y="1007715"/>
            <a:ext cx="8921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Truth Team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7950" y="1374279"/>
            <a:ext cx="3579168" cy="355402"/>
          </a:xfrm>
          <a:prstGeom prst="roundRect">
            <a:avLst>
              <a:gd name="adj" fmla="val 1429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7950" y="1374279"/>
            <a:ext cx="1193750" cy="355402"/>
          </a:xfrm>
          <a:prstGeom prst="rect">
            <a:avLst/>
          </a:prstGeom>
          <a:solidFill>
            <a:srgbClr val="0EA5E9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60350" y="1480542"/>
            <a:ext cx="5179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854101" y="1475780"/>
            <a:ext cx="11855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Truth (딥 트루스)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7950" y="1856631"/>
            <a:ext cx="3579168" cy="355402"/>
          </a:xfrm>
          <a:prstGeom prst="roundRect">
            <a:avLst>
              <a:gd name="adj" fmla="val 1429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07950" y="1856631"/>
            <a:ext cx="1193750" cy="355402"/>
          </a:xfrm>
          <a:prstGeom prst="rect">
            <a:avLst/>
          </a:prstGeom>
          <a:solidFill>
            <a:srgbClr val="0EA5E9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60350" y="1962894"/>
            <a:ext cx="414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세부주제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854101" y="1958132"/>
            <a:ext cx="126316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딥페이크 음성 사기 예방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7950" y="2338983"/>
            <a:ext cx="3579168" cy="355402"/>
          </a:xfrm>
          <a:prstGeom prst="roundRect">
            <a:avLst>
              <a:gd name="adj" fmla="val 1429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07950" y="2338983"/>
            <a:ext cx="1193750" cy="355402"/>
          </a:xfrm>
          <a:prstGeom prst="rect">
            <a:avLst/>
          </a:prstGeom>
          <a:solidFill>
            <a:srgbClr val="0EA5E9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60350" y="2445246"/>
            <a:ext cx="5466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타겟 사용자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854101" y="2440484"/>
            <a:ext cx="17424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 임원, 고액 자산가, 일반 가정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341019" y="901452"/>
            <a:ext cx="4295031" cy="1688604"/>
          </a:xfrm>
          <a:prstGeom prst="roundRect">
            <a:avLst>
              <a:gd name="adj" fmla="val 4513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502944" y="1063377"/>
            <a:ext cx="40506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한줄 소개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02944" y="1336328"/>
            <a:ext cx="405060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딥페이크 음성 탐지 + 가족 성문 대조 이중 검증 서비스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02944" y="1717179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655344" y="1666429"/>
            <a:ext cx="1144152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납치 빙자 사기 예방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02944" y="197108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655344" y="1920329"/>
            <a:ext cx="1165708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사칭 사기 방지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02944" y="222498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655344" y="2174230"/>
            <a:ext cx="1403131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비동기 음성 메시지 검증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7352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07827"/>
            <a:ext cx="9144000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7701"/>
            <a:ext cx="82906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 (Problem Definition)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920502"/>
            <a:ext cx="3937099" cy="1212652"/>
          </a:xfrm>
          <a:prstGeom prst="roundRect">
            <a:avLst>
              <a:gd name="adj" fmla="val 8378"/>
            </a:avLst>
          </a:prstGeom>
          <a:solidFill>
            <a:srgbClr val="EF4444">
              <a:alpha val="15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59550" y="1107728"/>
            <a:ext cx="363390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3초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59550" y="1793528"/>
            <a:ext cx="36339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딥페이크 음성 복제에 필요한 최소 샘플 시간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7950" y="2285554"/>
            <a:ext cx="3937099" cy="608112"/>
          </a:xfrm>
          <a:prstGeom prst="roundRect">
            <a:avLst>
              <a:gd name="adj" fmla="val 1253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27000" y="2285554"/>
            <a:ext cx="0" cy="608112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8450" y="2412504"/>
            <a:ext cx="36660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딥페이크 음성 기술의 대중화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8450" y="2634704"/>
            <a:ext cx="366608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음성 합성 기술의 오픈소스화로 진입장벽 급격히 하락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7950" y="2995166"/>
            <a:ext cx="3937099" cy="608112"/>
          </a:xfrm>
          <a:prstGeom prst="roundRect">
            <a:avLst>
              <a:gd name="adj" fmla="val 1253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27000" y="2995166"/>
            <a:ext cx="0" cy="608112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8450" y="3122116"/>
            <a:ext cx="36660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납치 빙자 사기 급증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8450" y="3344317"/>
            <a:ext cx="366608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가짜 음성 메시지로 공포심 유발 후 금전 요구 증가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7950" y="3704779"/>
            <a:ext cx="3937099" cy="608112"/>
          </a:xfrm>
          <a:prstGeom prst="roundRect">
            <a:avLst>
              <a:gd name="adj" fmla="val 1253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27000" y="3704779"/>
            <a:ext cx="0" cy="608112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8450" y="3831729"/>
            <a:ext cx="36660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솔루션의 한계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8450" y="4053929"/>
            <a:ext cx="366608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통화 특화로 비동기 음성 메시지 대응 부재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98950" y="920502"/>
            <a:ext cx="3937099" cy="2095054"/>
          </a:xfrm>
          <a:prstGeom prst="roundRect">
            <a:avLst>
              <a:gd name="adj" fmla="val 4850"/>
            </a:avLst>
          </a:prstGeom>
          <a:solidFill>
            <a:srgbClr val="0EA5E9">
              <a:alpha val="10000"/>
            </a:srgbClr>
          </a:solidFill>
          <a:ln w="9525">
            <a:solidFill>
              <a:srgbClr val="0EA5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60875" y="1082427"/>
            <a:ext cx="36855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 KPI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60875" y="1399877"/>
            <a:ext cx="1755874" cy="657076"/>
          </a:xfrm>
          <a:prstGeom prst="roundRect">
            <a:avLst>
              <a:gd name="adj" fmla="val 773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972806" y="1526828"/>
            <a:ext cx="15320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95%+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72806" y="1815703"/>
            <a:ext cx="15320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딥페이크 탐지 정확도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718250" y="1399877"/>
            <a:ext cx="1755874" cy="657076"/>
          </a:xfrm>
          <a:prstGeom prst="roundRect">
            <a:avLst>
              <a:gd name="adj" fmla="val 773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830181" y="1526828"/>
            <a:ext cx="15320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5%-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30181" y="1815703"/>
            <a:ext cx="15320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성문 대조 오탐율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860875" y="2158454"/>
            <a:ext cx="1755874" cy="695176"/>
          </a:xfrm>
          <a:prstGeom prst="roundRect">
            <a:avLst>
              <a:gd name="adj" fmla="val 730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972806" y="2285405"/>
            <a:ext cx="153201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10초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972806" y="2612380"/>
            <a:ext cx="15320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소요 시간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718250" y="2158454"/>
            <a:ext cx="1755874" cy="695176"/>
          </a:xfrm>
          <a:prstGeom prst="roundRect">
            <a:avLst>
              <a:gd name="adj" fmla="val 730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830181" y="2285405"/>
            <a:ext cx="15320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30181" y="2574280"/>
            <a:ext cx="15320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가용성</a:t>
            </a:r>
            <a:endParaRPr lang="en-US" sz="700" dirty="0"/>
          </a:p>
        </p:txBody>
      </p:sp>
      <p:graphicFrame>
        <p:nvGraphicFramePr>
          <p:cNvPr id="34" name="Chart 0" descr=""/>
          <p:cNvGraphicFramePr/>
          <p:nvPr/>
        </p:nvGraphicFramePr>
        <p:xfrm>
          <a:off x="4698950" y="3142506"/>
          <a:ext cx="3937099" cy="12699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7352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07827"/>
            <a:ext cx="914400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7701"/>
            <a:ext cx="82906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솔루션 개요 (Solution Overview)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895052"/>
            <a:ext cx="2607766" cy="1812727"/>
          </a:xfrm>
          <a:prstGeom prst="roundRect">
            <a:avLst>
              <a:gd name="adj" fmla="val 560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914102"/>
            <a:ext cx="2607766" cy="0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0350" y="1085552"/>
            <a:ext cx="304800" cy="304800"/>
          </a:xfrm>
          <a:prstGeom prst="roundRect">
            <a:avLst>
              <a:gd name="adj" fmla="val 16667"/>
            </a:avLst>
          </a:prstGeom>
          <a:solidFill>
            <a:srgbClr val="0EA5E9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6550" y="1152227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66651" y="1152227"/>
            <a:ext cx="10720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인터페이스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0350" y="1517303"/>
            <a:ext cx="2302966" cy="295275"/>
          </a:xfrm>
          <a:prstGeom prst="roundRect">
            <a:avLst>
              <a:gd name="adj" fmla="val 17204"/>
            </a:avLst>
          </a:prstGeom>
          <a:solidFill>
            <a:srgbClr val="0EA5E9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87301" y="1593503"/>
            <a:ext cx="20900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음성 파일 업로드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60350" y="1863328"/>
            <a:ext cx="2302966" cy="295275"/>
          </a:xfrm>
          <a:prstGeom prst="roundRect">
            <a:avLst>
              <a:gd name="adj" fmla="val 17204"/>
            </a:avLst>
          </a:prstGeom>
          <a:solidFill>
            <a:srgbClr val="0EA5E9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87301" y="1939528"/>
            <a:ext cx="20900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가족 성문 등록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60350" y="2209354"/>
            <a:ext cx="2302966" cy="295275"/>
          </a:xfrm>
          <a:prstGeom prst="roundRect">
            <a:avLst>
              <a:gd name="adj" fmla="val 17204"/>
            </a:avLst>
          </a:prstGeom>
          <a:solidFill>
            <a:srgbClr val="0EA5E9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87301" y="2285554"/>
            <a:ext cx="20900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결과 대시보드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68117" y="895052"/>
            <a:ext cx="2607766" cy="1812727"/>
          </a:xfrm>
          <a:prstGeom prst="roundRect">
            <a:avLst>
              <a:gd name="adj" fmla="val 560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268117" y="914102"/>
            <a:ext cx="2607766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0517" y="1085552"/>
            <a:ext cx="304800" cy="304800"/>
          </a:xfrm>
          <a:prstGeom prst="roundRect">
            <a:avLst>
              <a:gd name="adj" fmla="val 16667"/>
            </a:avLst>
          </a:prstGeom>
          <a:solidFill>
            <a:srgbClr val="10B981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500884" y="1152227"/>
            <a:ext cx="1469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26818" y="1152227"/>
            <a:ext cx="71955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분석 엔진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20517" y="1517303"/>
            <a:ext cx="2302966" cy="295275"/>
          </a:xfrm>
          <a:prstGeom prst="roundRect">
            <a:avLst>
              <a:gd name="adj" fmla="val 17204"/>
            </a:avLst>
          </a:prstGeom>
          <a:solidFill>
            <a:srgbClr val="0EA5E9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547467" y="1593503"/>
            <a:ext cx="20900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딥페이크 탐지 (Wav2Vec2)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420517" y="1863328"/>
            <a:ext cx="2302966" cy="295275"/>
          </a:xfrm>
          <a:prstGeom prst="roundRect">
            <a:avLst>
              <a:gd name="adj" fmla="val 17204"/>
            </a:avLst>
          </a:prstGeom>
          <a:solidFill>
            <a:srgbClr val="0EA5E9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547467" y="1939528"/>
            <a:ext cx="20900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성문 대조 (ECAPA-TDNN)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420517" y="2209354"/>
            <a:ext cx="2302966" cy="295275"/>
          </a:xfrm>
          <a:prstGeom prst="roundRect">
            <a:avLst>
              <a:gd name="adj" fmla="val 17204"/>
            </a:avLst>
          </a:prstGeom>
          <a:solidFill>
            <a:srgbClr val="0EA5E9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547467" y="2285554"/>
            <a:ext cx="20900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종합 위험도 판정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028283" y="895052"/>
            <a:ext cx="2607766" cy="1812727"/>
          </a:xfrm>
          <a:prstGeom prst="roundRect">
            <a:avLst>
              <a:gd name="adj" fmla="val 560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6028283" y="914102"/>
            <a:ext cx="2607766" cy="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80683" y="1085552"/>
            <a:ext cx="304800" cy="304800"/>
          </a:xfrm>
          <a:prstGeom prst="roundRect">
            <a:avLst>
              <a:gd name="adj" fmla="val 16667"/>
            </a:avLst>
          </a:prstGeom>
          <a:solidFill>
            <a:srgbClr val="8B5CF6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227118" y="1152227"/>
            <a:ext cx="2160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6984" y="1152227"/>
            <a:ext cx="8130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저장소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80683" y="1517303"/>
            <a:ext cx="2302966" cy="295275"/>
          </a:xfrm>
          <a:prstGeom prst="roundRect">
            <a:avLst>
              <a:gd name="adj" fmla="val 17204"/>
            </a:avLst>
          </a:prstGeom>
          <a:solidFill>
            <a:srgbClr val="0EA5E9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307634" y="1593503"/>
            <a:ext cx="20900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가족 성문 DB (암호화)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180683" y="1863328"/>
            <a:ext cx="2302966" cy="295275"/>
          </a:xfrm>
          <a:prstGeom prst="roundRect">
            <a:avLst>
              <a:gd name="adj" fmla="val 17204"/>
            </a:avLst>
          </a:prstGeom>
          <a:solidFill>
            <a:srgbClr val="0EA5E9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307634" y="1939528"/>
            <a:ext cx="20900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이력 로그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180683" y="2209354"/>
            <a:ext cx="2302966" cy="295275"/>
          </a:xfrm>
          <a:prstGeom prst="roundRect">
            <a:avLst>
              <a:gd name="adj" fmla="val 17204"/>
            </a:avLst>
          </a:prstGeom>
          <a:solidFill>
            <a:srgbClr val="0EA5E9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307634" y="2285554"/>
            <a:ext cx="20900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가족 암호 관리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07950" y="2885480"/>
            <a:ext cx="8128099" cy="1460302"/>
          </a:xfrm>
          <a:prstGeom prst="roundRect">
            <a:avLst>
              <a:gd name="adj" fmla="val 6957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720626" y="3047405"/>
            <a:ext cx="785680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이중 검증 프로세스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391394" y="339030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543894" y="3520380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703655" y="3847356"/>
            <a:ext cx="17310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성문 등록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03655" y="4069556"/>
            <a:ext cx="17310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가족 음성 사전 등록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468463" y="3668018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3393281" y="339030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3545781" y="3520380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2705542" y="3847356"/>
            <a:ext cx="17310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음성 업로드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705542" y="4069556"/>
            <a:ext cx="17310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의심 음성 파일 업로드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470350" y="3668018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395168" y="339030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547668" y="3520380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4707429" y="3847356"/>
            <a:ext cx="17310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분석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707429" y="4069556"/>
            <a:ext cx="17310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딥페이크 + 성문 검증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6472238" y="3668018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397055" y="339030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7549555" y="3520380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6709316" y="3847356"/>
            <a:ext cx="17310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확인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709316" y="4069556"/>
            <a:ext cx="17310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위험도 리포트 제공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7352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07827"/>
            <a:ext cx="9144000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7701"/>
            <a:ext cx="82906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 (Key Features)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920502"/>
            <a:ext cx="1917799" cy="4019848"/>
          </a:xfrm>
          <a:prstGeom prst="roundRect">
            <a:avLst>
              <a:gd name="adj" fmla="val 529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939552"/>
            <a:ext cx="1917799" cy="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651" y="1136303"/>
            <a:ext cx="507950" cy="507950"/>
          </a:xfrm>
          <a:prstGeom prst="roundRect">
            <a:avLst>
              <a:gd name="adj" fmla="val 20002"/>
            </a:avLst>
          </a:prstGeom>
          <a:solidFill>
            <a:srgbClr val="EF4444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05768" y="1271141"/>
            <a:ext cx="6907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651" y="1796653"/>
            <a:ext cx="15936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딥페이크 탐지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651" y="2098179"/>
            <a:ext cx="1593646" cy="2270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12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Wav2Vec2 기반 AI가 음성의 스펙트럼 아티팩트를 분석하여 합성 음성 여부를 판별합니다.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651" y="4521547"/>
            <a:ext cx="1246287" cy="241102"/>
          </a:xfrm>
          <a:prstGeom prst="roundRect">
            <a:avLst>
              <a:gd name="adj" fmla="val 21070"/>
            </a:avLst>
          </a:prstGeom>
          <a:solidFill>
            <a:srgbClr val="0EA5E9">
              <a:alpha val="15000"/>
            </a:srgbClr>
          </a:solidFill>
          <a:ln w="9525">
            <a:solidFill>
              <a:srgbClr val="0EA5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96677" y="4594473"/>
            <a:ext cx="10447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Wav2Vec2 / HuggingFace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578150" y="920502"/>
            <a:ext cx="1917799" cy="4019848"/>
          </a:xfrm>
          <a:prstGeom prst="roundRect">
            <a:avLst>
              <a:gd name="adj" fmla="val 529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578150" y="939552"/>
            <a:ext cx="1917799" cy="0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55850" y="1136303"/>
            <a:ext cx="507950" cy="507950"/>
          </a:xfrm>
          <a:prstGeom prst="roundRect">
            <a:avLst>
              <a:gd name="adj" fmla="val 20002"/>
            </a:avLst>
          </a:prstGeom>
          <a:solidFill>
            <a:srgbClr val="0EA5E9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910632" y="1271141"/>
            <a:ext cx="20220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755850" y="1796653"/>
            <a:ext cx="15936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성문 대조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55850" y="2098179"/>
            <a:ext cx="1593646" cy="2270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12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ECAPA-TDNN 모델로 등록된 가족의 성문과 비교하여 실제 가족인지 확인합니다.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755850" y="4521547"/>
            <a:ext cx="1376214" cy="241102"/>
          </a:xfrm>
          <a:prstGeom prst="roundRect">
            <a:avLst>
              <a:gd name="adj" fmla="val 21070"/>
            </a:avLst>
          </a:prstGeom>
          <a:solidFill>
            <a:srgbClr val="0EA5E9">
              <a:alpha val="15000"/>
            </a:srgbClr>
          </a:solidFill>
          <a:ln w="9525">
            <a:solidFill>
              <a:srgbClr val="0EA5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866876" y="4594473"/>
            <a:ext cx="11772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ECAPA-TDNN / SpeechBrain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648349" y="920502"/>
            <a:ext cx="1917799" cy="4019848"/>
          </a:xfrm>
          <a:prstGeom prst="roundRect">
            <a:avLst>
              <a:gd name="adj" fmla="val 529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648349" y="939552"/>
            <a:ext cx="1917799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6050" y="1136303"/>
            <a:ext cx="507950" cy="507950"/>
          </a:xfrm>
          <a:prstGeom prst="roundRect">
            <a:avLst>
              <a:gd name="adj" fmla="val 20002"/>
            </a:avLst>
          </a:prstGeom>
          <a:solidFill>
            <a:srgbClr val="10B981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023396" y="1271141"/>
            <a:ext cx="1153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826050" y="1796653"/>
            <a:ext cx="15936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가족 암호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26050" y="2098179"/>
            <a:ext cx="1593646" cy="2251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12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사전 약속된 암호 문구로 추가적인 본인 확인을 수행합니다. AI 분석 + 암호 이중 검증.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26050" y="4502497"/>
            <a:ext cx="804714" cy="260152"/>
          </a:xfrm>
          <a:prstGeom prst="roundRect">
            <a:avLst>
              <a:gd name="adj" fmla="val 19527"/>
            </a:avLst>
          </a:prstGeom>
          <a:solidFill>
            <a:srgbClr val="0EA5E9">
              <a:alpha val="15000"/>
            </a:srgbClr>
          </a:solidFill>
          <a:ln w="9525">
            <a:solidFill>
              <a:srgbClr val="0EA5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937075" y="4575423"/>
            <a:ext cx="59431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이중 인증 체계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718548" y="920502"/>
            <a:ext cx="1917799" cy="4019848"/>
          </a:xfrm>
          <a:prstGeom prst="roundRect">
            <a:avLst>
              <a:gd name="adj" fmla="val 529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718548" y="939552"/>
            <a:ext cx="1917799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96249" y="1136303"/>
            <a:ext cx="507950" cy="507950"/>
          </a:xfrm>
          <a:prstGeom prst="roundRect">
            <a:avLst>
              <a:gd name="adj" fmla="val 20002"/>
            </a:avLst>
          </a:prstGeom>
          <a:solidFill>
            <a:srgbClr val="F59E0B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093595" y="1271141"/>
            <a:ext cx="1153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96249" y="1796653"/>
            <a:ext cx="15936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대시보드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96249" y="2098179"/>
            <a:ext cx="1593646" cy="2270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12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결과를 시각화하여 위험도 게이지, 상세 리포트를 한눈에 확인할 수 있습니다.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896249" y="4521547"/>
            <a:ext cx="1050280" cy="241102"/>
          </a:xfrm>
          <a:prstGeom prst="roundRect">
            <a:avLst>
              <a:gd name="adj" fmla="val 21070"/>
            </a:avLst>
          </a:prstGeom>
          <a:solidFill>
            <a:srgbClr val="0EA5E9">
              <a:alpha val="15000"/>
            </a:srgbClr>
          </a:solidFill>
          <a:ln w="9525">
            <a:solidFill>
              <a:srgbClr val="0EA5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7007275" y="4594473"/>
            <a:ext cx="8447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/ Tailwind CSS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7352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07827"/>
            <a:ext cx="9144000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7701"/>
            <a:ext cx="82906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및 기술 (Data and Tech)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920502"/>
            <a:ext cx="40158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활용 데이터셋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7950" y="1237952"/>
            <a:ext cx="3937099" cy="504527"/>
          </a:xfrm>
          <a:prstGeom prst="roundRect">
            <a:avLst>
              <a:gd name="adj" fmla="val 1006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0350" y="1339453"/>
            <a:ext cx="37049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ASVspoof 2019/2021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60350" y="1498104"/>
            <a:ext cx="37049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딥페이크 탐지 모델 학습/검증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7950" y="1818680"/>
            <a:ext cx="3937099" cy="504527"/>
          </a:xfrm>
          <a:prstGeom prst="roundRect">
            <a:avLst>
              <a:gd name="adj" fmla="val 1006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60350" y="1920180"/>
            <a:ext cx="37049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VoxCeleb1/2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60350" y="2078831"/>
            <a:ext cx="37049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화자 검증 모델 학습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7950" y="2399407"/>
            <a:ext cx="3937099" cy="504527"/>
          </a:xfrm>
          <a:prstGeom prst="roundRect">
            <a:avLst>
              <a:gd name="adj" fmla="val 1006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60350" y="2500908"/>
            <a:ext cx="37049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DEEP-VOICE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60350" y="2659559"/>
            <a:ext cx="37049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음성 복제 탐지 벤치마크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7950" y="3056334"/>
            <a:ext cx="3937099" cy="650677"/>
          </a:xfrm>
          <a:prstGeom prst="roundRect">
            <a:avLst>
              <a:gd name="adj" fmla="val 1171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4901" y="3183285"/>
            <a:ext cx="37568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처리 파이프라인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4901" y="3437186"/>
            <a:ext cx="2072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38051" y="3451473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39701" y="3437186"/>
            <a:ext cx="414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리샘플링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345853" y="3451473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447502" y="3437186"/>
            <a:ext cx="414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특징추출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853654" y="3451473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955304" y="3437186"/>
            <a:ext cx="3051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AI분석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98950" y="920502"/>
            <a:ext cx="40158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98950" y="1237952"/>
            <a:ext cx="589211" cy="260152"/>
          </a:xfrm>
          <a:prstGeom prst="roundRect">
            <a:avLst>
              <a:gd name="adj" fmla="val 19527"/>
            </a:avLst>
          </a:prstGeom>
          <a:solidFill>
            <a:srgbClr val="8B5CF6">
              <a:alpha val="15000"/>
            </a:srgbClr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35426" y="1310878"/>
            <a:ext cx="32258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364361" y="1237952"/>
            <a:ext cx="634157" cy="260152"/>
          </a:xfrm>
          <a:prstGeom prst="roundRect">
            <a:avLst>
              <a:gd name="adj" fmla="val 19527"/>
            </a:avLst>
          </a:prstGeom>
          <a:solidFill>
            <a:srgbClr val="8B5CF6">
              <a:alpha val="15000"/>
            </a:srgbClr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500836" y="1310878"/>
            <a:ext cx="3684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074718" y="1237952"/>
            <a:ext cx="538311" cy="260152"/>
          </a:xfrm>
          <a:prstGeom prst="roundRect">
            <a:avLst>
              <a:gd name="adj" fmla="val 19527"/>
            </a:avLst>
          </a:prstGeom>
          <a:solidFill>
            <a:srgbClr val="8B5CF6">
              <a:alpha val="15000"/>
            </a:srgbClr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211193" y="1310878"/>
            <a:ext cx="2706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689229" y="1237952"/>
            <a:ext cx="634157" cy="260152"/>
          </a:xfrm>
          <a:prstGeom prst="roundRect">
            <a:avLst>
              <a:gd name="adj" fmla="val 19527"/>
            </a:avLst>
          </a:prstGeom>
          <a:solidFill>
            <a:srgbClr val="8B5CF6">
              <a:alpha val="15000"/>
            </a:srgbClr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825704" y="1310878"/>
            <a:ext cx="3684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399586" y="1237952"/>
            <a:ext cx="754559" cy="260152"/>
          </a:xfrm>
          <a:prstGeom prst="roundRect">
            <a:avLst>
              <a:gd name="adj" fmla="val 19527"/>
            </a:avLst>
          </a:prstGeom>
          <a:solidFill>
            <a:srgbClr val="8B5CF6">
              <a:alpha val="15000"/>
            </a:srgbClr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536061" y="1310878"/>
            <a:ext cx="4912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Wav2Vec2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98950" y="1574304"/>
            <a:ext cx="925562" cy="260152"/>
          </a:xfrm>
          <a:prstGeom prst="roundRect">
            <a:avLst>
              <a:gd name="adj" fmla="val 19527"/>
            </a:avLst>
          </a:prstGeom>
          <a:solidFill>
            <a:srgbClr val="8B5CF6">
              <a:alpha val="15000"/>
            </a:srgbClr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35426" y="1647230"/>
            <a:ext cx="6656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ECAPA-TDNN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700713" y="1574304"/>
            <a:ext cx="877044" cy="260152"/>
          </a:xfrm>
          <a:prstGeom prst="roundRect">
            <a:avLst>
              <a:gd name="adj" fmla="val 19527"/>
            </a:avLst>
          </a:prstGeom>
          <a:solidFill>
            <a:srgbClr val="8B5CF6">
              <a:alpha val="15000"/>
            </a:srgbClr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837188" y="1647230"/>
            <a:ext cx="616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HuggingFace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653957" y="1574304"/>
            <a:ext cx="854422" cy="260152"/>
          </a:xfrm>
          <a:prstGeom prst="roundRect">
            <a:avLst>
              <a:gd name="adj" fmla="val 19527"/>
            </a:avLst>
          </a:prstGeom>
          <a:solidFill>
            <a:srgbClr val="8B5CF6">
              <a:alpha val="15000"/>
            </a:srgbClr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790432" y="1647230"/>
            <a:ext cx="59310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SpeechBrain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698950" y="1986855"/>
            <a:ext cx="3937099" cy="1739057"/>
          </a:xfrm>
          <a:prstGeom prst="roundRect">
            <a:avLst>
              <a:gd name="adj" fmla="val 4382"/>
            </a:avLst>
          </a:prstGeom>
          <a:solidFill>
            <a:srgbClr val="0EA5E9">
              <a:alpha val="10000"/>
            </a:srgbClr>
          </a:solidFill>
          <a:ln w="9525">
            <a:solidFill>
              <a:srgbClr val="0EA5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835426" y="2123331"/>
            <a:ext cx="37374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AI 모델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35426" y="2377232"/>
            <a:ext cx="3664148" cy="580727"/>
          </a:xfrm>
          <a:prstGeom prst="roundRect">
            <a:avLst>
              <a:gd name="adj" fmla="val 874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987826" y="2478732"/>
            <a:ext cx="34265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Wav2Vec2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987826" y="2713583"/>
            <a:ext cx="34265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딥페이크 탐지 / 스펙트럼 분석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835426" y="3008709"/>
            <a:ext cx="3664148" cy="580727"/>
          </a:xfrm>
          <a:prstGeom prst="roundRect">
            <a:avLst>
              <a:gd name="adj" fmla="val 874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987826" y="3110210"/>
            <a:ext cx="34265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ECAPA-TDNN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987826" y="3345061"/>
            <a:ext cx="34265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화자 검증 / 192차원 임베딩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7352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07827"/>
            <a:ext cx="91440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7701"/>
            <a:ext cx="82906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시나리오 (User Scenario)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895052"/>
            <a:ext cx="1524000" cy="1258193"/>
          </a:xfrm>
          <a:prstGeom prst="roundRect">
            <a:avLst>
              <a:gd name="adj" fmla="val 605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27000" y="895052"/>
            <a:ext cx="0" cy="1258193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8450" y="1047452"/>
            <a:ext cx="12047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페르소나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98450" y="1320403"/>
            <a:ext cx="1204722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김지영 (58세)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98450" y="1490514"/>
            <a:ext cx="1204722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주부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98450" y="1660624"/>
            <a:ext cx="1204722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20대 아들 해외 유학중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98450" y="1830735"/>
            <a:ext cx="1204722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니즈: 납치 사기 예방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235101" y="895052"/>
            <a:ext cx="6400949" cy="393502"/>
          </a:xfrm>
          <a:prstGeom prst="roundRect">
            <a:avLst>
              <a:gd name="adj" fmla="val 12910"/>
            </a:avLst>
          </a:prstGeom>
          <a:solidFill>
            <a:srgbClr val="F59E0B">
              <a:alpha val="10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397026" y="1006078"/>
            <a:ext cx="61986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시나리오: 해외 유학 중인 아들 사칭 사기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35101" y="1415504"/>
            <a:ext cx="1543050" cy="531168"/>
          </a:xfrm>
          <a:prstGeom prst="roundRect">
            <a:avLst>
              <a:gd name="adj" fmla="val 956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235101" y="1425029"/>
            <a:ext cx="1543050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36602" y="1536055"/>
            <a:ext cx="13668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사전 준비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336602" y="1729680"/>
            <a:ext cx="1366849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Truth에 아들 음성 등록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854351" y="1415504"/>
            <a:ext cx="1543050" cy="531168"/>
          </a:xfrm>
          <a:prstGeom prst="roundRect">
            <a:avLst>
              <a:gd name="adj" fmla="val 9564"/>
            </a:avLst>
          </a:prstGeom>
          <a:solidFill>
            <a:srgbClr val="EF4444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854351" y="1425029"/>
            <a:ext cx="1543050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55852" y="1536055"/>
            <a:ext cx="13668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사기 시도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955852" y="1729680"/>
            <a:ext cx="1366849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"엄마 나야, 위험해" 음성 수신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473601" y="1415504"/>
            <a:ext cx="1543050" cy="531168"/>
          </a:xfrm>
          <a:prstGeom prst="roundRect">
            <a:avLst>
              <a:gd name="adj" fmla="val 956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473601" y="1425029"/>
            <a:ext cx="1543050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5102" y="1536055"/>
            <a:ext cx="13668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검증 수행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575102" y="1729680"/>
            <a:ext cx="1366849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음성 업로드, 10초 내 분석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092851" y="1415504"/>
            <a:ext cx="1543050" cy="531168"/>
          </a:xfrm>
          <a:prstGeom prst="roundRect">
            <a:avLst>
              <a:gd name="adj" fmla="val 956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7092851" y="1425029"/>
            <a:ext cx="1543050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94352" y="1536055"/>
            <a:ext cx="13668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결과 확인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194352" y="1729680"/>
            <a:ext cx="1366849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딥페이크 확률 + 성문 일치율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235101" y="2073622"/>
            <a:ext cx="4978598" cy="1507331"/>
          </a:xfrm>
          <a:prstGeom prst="roundRect">
            <a:avLst>
              <a:gd name="adj" fmla="val 5055"/>
            </a:avLst>
          </a:prstGeom>
          <a:solidFill>
            <a:srgbClr val="EF4444">
              <a:alpha val="15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371576" y="2210098"/>
            <a:ext cx="47997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결과 예시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365985" y="2463998"/>
            <a:ext cx="57033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2365985" y="2813149"/>
            <a:ext cx="5703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딥페이크 확률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078432" y="2463998"/>
            <a:ext cx="47848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3078432" y="2813149"/>
            <a:ext cx="4784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성문 일치율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371576" y="3033713"/>
            <a:ext cx="4705648" cy="0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71576" y="3165277"/>
            <a:ext cx="47997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권장 조치: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2371576" y="3304877"/>
            <a:ext cx="47997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영상통화 확인  2. 112 신고  3. 송금 금지</a:t>
            </a:r>
            <a:endParaRPr lang="en-US" sz="700" dirty="0"/>
          </a:p>
        </p:txBody>
      </p:sp>
      <p:graphicFrame>
        <p:nvGraphicFramePr>
          <p:cNvPr id="39" name="Chart 0" descr=""/>
          <p:cNvGraphicFramePr/>
          <p:nvPr/>
        </p:nvGraphicFramePr>
        <p:xfrm>
          <a:off x="7366099" y="2073622"/>
          <a:ext cx="1269950" cy="12699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7352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07827"/>
            <a:ext cx="914400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7701"/>
            <a:ext cx="82906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 효과 및 확장성 (Expected Impact)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895052"/>
            <a:ext cx="40158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 효과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7950" y="1212503"/>
            <a:ext cx="3937099" cy="545902"/>
          </a:xfrm>
          <a:prstGeom prst="roundRect">
            <a:avLst>
              <a:gd name="adj" fmla="val 1395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27000" y="1212503"/>
            <a:ext cx="0" cy="545902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3751" y="1339453"/>
            <a:ext cx="361447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딥페이크 음성 사기 피해 50% 감소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23751" y="1517154"/>
            <a:ext cx="36144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사전 탐지를 통한 피해 예방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07950" y="1859905"/>
            <a:ext cx="3937099" cy="545902"/>
          </a:xfrm>
          <a:prstGeom prst="roundRect">
            <a:avLst>
              <a:gd name="adj" fmla="val 1395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27000" y="1859905"/>
            <a:ext cx="0" cy="545902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3751" y="1986855"/>
            <a:ext cx="361447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10만 건 음성 검증 처리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23751" y="2164556"/>
            <a:ext cx="36144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확장 가능한 클라우드 인프라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07950" y="2507307"/>
            <a:ext cx="3937099" cy="545902"/>
          </a:xfrm>
          <a:prstGeom prst="roundRect">
            <a:avLst>
              <a:gd name="adj" fmla="val 1395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27000" y="2507307"/>
            <a:ext cx="0" cy="545902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3751" y="2634258"/>
            <a:ext cx="361447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 취약계층 보호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23751" y="2811959"/>
            <a:ext cx="36144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고령층의 사기 불안감 해소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07950" y="3154710"/>
            <a:ext cx="3937099" cy="545902"/>
          </a:xfrm>
          <a:prstGeom prst="roundRect">
            <a:avLst>
              <a:gd name="adj" fmla="val 1395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27000" y="3154710"/>
            <a:ext cx="0" cy="545902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3751" y="3281660"/>
            <a:ext cx="361447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 보안 강화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23751" y="3459361"/>
            <a:ext cx="36144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사칭 사기 방지 솔루션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698950" y="895052"/>
            <a:ext cx="40158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향후 확장 방향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98950" y="1212503"/>
            <a:ext cx="2190601" cy="545902"/>
          </a:xfrm>
          <a:prstGeom prst="roundRect">
            <a:avLst>
              <a:gd name="adj" fmla="val 9306"/>
            </a:avLst>
          </a:prstGeom>
          <a:solidFill>
            <a:srgbClr val="0EA5E9">
              <a:alpha val="10000"/>
            </a:srgbClr>
          </a:solidFill>
          <a:ln w="9525">
            <a:solidFill>
              <a:srgbClr val="0EA5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35426" y="1348978"/>
            <a:ext cx="19560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API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35426" y="1507629"/>
            <a:ext cx="195600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금융기관/보험사 연동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698950" y="1859905"/>
            <a:ext cx="2190601" cy="564952"/>
          </a:xfrm>
          <a:prstGeom prst="roundRect">
            <a:avLst>
              <a:gd name="adj" fmla="val 8992"/>
            </a:avLst>
          </a:prstGeom>
          <a:solidFill>
            <a:srgbClr val="0EA5E9">
              <a:alpha val="10000"/>
            </a:srgbClr>
          </a:solidFill>
          <a:ln w="9525">
            <a:solidFill>
              <a:srgbClr val="0EA5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35426" y="1996380"/>
            <a:ext cx="19560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통신사 연동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35426" y="2174081"/>
            <a:ext cx="195600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부가서비스 탑재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698950" y="2526357"/>
            <a:ext cx="2190601" cy="564952"/>
          </a:xfrm>
          <a:prstGeom prst="roundRect">
            <a:avLst>
              <a:gd name="adj" fmla="val 8992"/>
            </a:avLst>
          </a:prstGeom>
          <a:solidFill>
            <a:srgbClr val="0EA5E9">
              <a:alpha val="10000"/>
            </a:srgbClr>
          </a:solidFill>
          <a:ln w="9525">
            <a:solidFill>
              <a:srgbClr val="0EA5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35426" y="2662833"/>
            <a:ext cx="19560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 확장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35426" y="2840534"/>
            <a:ext cx="195600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다국어 지원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698950" y="3192810"/>
            <a:ext cx="2190601" cy="564952"/>
          </a:xfrm>
          <a:prstGeom prst="roundRect">
            <a:avLst>
              <a:gd name="adj" fmla="val 8992"/>
            </a:avLst>
          </a:prstGeom>
          <a:solidFill>
            <a:srgbClr val="0EA5E9">
              <a:alpha val="10000"/>
            </a:srgbClr>
          </a:solidFill>
          <a:ln w="9525">
            <a:solidFill>
              <a:srgbClr val="0EA5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35426" y="3329285"/>
            <a:ext cx="19560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온디바이스 AI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35426" y="3506986"/>
            <a:ext cx="195600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스마트폰 로컬 처리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698950" y="3910161"/>
            <a:ext cx="3937099" cy="787152"/>
          </a:xfrm>
          <a:prstGeom prst="roundRect">
            <a:avLst>
              <a:gd name="adj" fmla="val 12907"/>
            </a:avLst>
          </a:prstGeom>
          <a:solidFill>
            <a:srgbClr val="10B981">
              <a:alpha val="15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50550" y="4097387"/>
            <a:ext cx="363390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Truth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850550" y="4357688"/>
            <a:ext cx="36339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AI로 가족을 지키는 딥페이크 음성 검증 서비스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Truth - AI 딥페이크 음성 검증 서비스</dc:title>
  <dc:subject>피싱·스캠 예방을 위한 서비스 개발 경진대회</dc:subject>
  <dc:creator>Deep Truth Team</dc:creator>
  <cp:lastModifiedBy>Deep Truth Team</cp:lastModifiedBy>
  <cp:revision>1</cp:revision>
  <dcterms:created xsi:type="dcterms:W3CDTF">2026-01-18T10:52:55Z</dcterms:created>
  <dcterms:modified xsi:type="dcterms:W3CDTF">2026-01-18T10:52:55Z</dcterms:modified>
</cp:coreProperties>
</file>