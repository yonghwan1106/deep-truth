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8364" y="920948"/>
            <a:ext cx="3407271" cy="314325"/>
          </a:xfrm>
          <a:prstGeom prst="roundRect">
            <a:avLst>
              <a:gd name="adj" fmla="val 80808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1040" y="1006673"/>
            <a:ext cx="30415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PREVENTION SERVICE COMPETITION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012966" y="1540073"/>
            <a:ext cx="311806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</a:t>
            </a:r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12966" y="2346424"/>
            <a:ext cx="3118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딥페이크 음성 검증 서비스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67353" y="3778151"/>
            <a:ext cx="28091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67353" y="3981301"/>
            <a:ext cx="28091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피싱·스캠 예방을 위한 서비스 개발 경진대회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91440" y="4756249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69752"/>
            <a:ext cx="9144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60277"/>
            <a:ext cx="1968401" cy="444401"/>
          </a:xfrm>
          <a:prstGeom prst="roundRect">
            <a:avLst>
              <a:gd name="adj" fmla="val 171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260277"/>
            <a:ext cx="0" cy="444401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201" y="1387227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30252" y="1387227"/>
            <a:ext cx="57649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1907828"/>
            <a:ext cx="1968401" cy="444401"/>
          </a:xfrm>
          <a:prstGeom prst="roundRect">
            <a:avLst>
              <a:gd name="adj" fmla="val 171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907828"/>
            <a:ext cx="0" cy="444401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201" y="2034778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30252" y="2034778"/>
            <a:ext cx="5764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(딥 트루스)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2564904"/>
            <a:ext cx="1968401" cy="444401"/>
          </a:xfrm>
          <a:prstGeom prst="roundRect">
            <a:avLst>
              <a:gd name="adj" fmla="val 171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564904"/>
            <a:ext cx="0" cy="444401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201" y="2691854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세부주제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30252" y="2691854"/>
            <a:ext cx="5764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사기 예방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3221980"/>
            <a:ext cx="1968401" cy="444401"/>
          </a:xfrm>
          <a:prstGeom prst="roundRect">
            <a:avLst>
              <a:gd name="adj" fmla="val 171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221980"/>
            <a:ext cx="0" cy="444401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201" y="334893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30252" y="3348930"/>
            <a:ext cx="5764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임원, 고액 자산가, 일반 가정 (납치 빙자 사기 예방)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3929807"/>
            <a:ext cx="8128099" cy="653951"/>
          </a:xfrm>
          <a:prstGeom prst="roundRect">
            <a:avLst>
              <a:gd name="adj" fmla="val 15536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5364" y="4142482"/>
            <a:ext cx="7753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딥페이크 음성 탐지 + 가족 성문 대조 이중 검증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(Problem Definition)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3937099" cy="844451"/>
          </a:xfrm>
          <a:prstGeom prst="roundRect">
            <a:avLst>
              <a:gd name="adj" fmla="val 902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8069" y="1047452"/>
            <a:ext cx="375686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8069" y="1495127"/>
            <a:ext cx="3756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복제에 필요한 샘플 시간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891903"/>
            <a:ext cx="3937099" cy="643682"/>
          </a:xfrm>
          <a:prstGeom prst="roundRect">
            <a:avLst>
              <a:gd name="adj" fmla="val 11838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2028379"/>
            <a:ext cx="3737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기술의 대중화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426" y="2250579"/>
            <a:ext cx="37374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합성 기술의 오픈소스화로 진입장벽 급격히 하락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637086"/>
            <a:ext cx="3937099" cy="643682"/>
          </a:xfrm>
          <a:prstGeom prst="roundRect">
            <a:avLst>
              <a:gd name="adj" fmla="val 11838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2773561"/>
            <a:ext cx="3737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납치 빙자 사기 급증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426" y="2995761"/>
            <a:ext cx="37374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가짜 음성 메시지로 공포심 유발 후 금전 요구 증가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382268"/>
            <a:ext cx="3937099" cy="643682"/>
          </a:xfrm>
          <a:prstGeom prst="roundRect">
            <a:avLst>
              <a:gd name="adj" fmla="val 11838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3518743"/>
            <a:ext cx="3737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솔루션의 한계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426" y="3740944"/>
            <a:ext cx="37374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통화 특화로 비동기 음성 메시지 대응 부재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920502"/>
            <a:ext cx="3937099" cy="1555700"/>
          </a:xfrm>
          <a:prstGeom prst="roundRect">
            <a:avLst>
              <a:gd name="adj" fmla="val 4898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0875" y="1082427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KPI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0875" y="1399877"/>
            <a:ext cx="11140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정확도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4927" y="1399877"/>
            <a:ext cx="498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이상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0875" y="1628477"/>
            <a:ext cx="880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 오탐율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8476" y="1628477"/>
            <a:ext cx="4341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미만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0875" y="1857077"/>
            <a:ext cx="764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소요 시간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72276" y="1857077"/>
            <a:ext cx="5118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10초 이내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0875" y="2085677"/>
            <a:ext cx="732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가용성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51627" y="2085677"/>
            <a:ext cx="226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개요 (Solution Overview)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2573982" cy="1634877"/>
          </a:xfrm>
          <a:prstGeom prst="roundRect">
            <a:avLst>
              <a:gd name="adj" fmla="val 46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374" y="1082427"/>
            <a:ext cx="22951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인터페이스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9875" y="1355378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1431578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파일 업로드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9875" y="1701403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77603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성문 등록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9875" y="2047429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6826" y="2123629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 대시보드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5083" y="920502"/>
            <a:ext cx="2573982" cy="1634877"/>
          </a:xfrm>
          <a:prstGeom prst="roundRect">
            <a:avLst>
              <a:gd name="adj" fmla="val 46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4507" y="1082427"/>
            <a:ext cx="22951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엔진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47008" y="1355378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73959" y="1431578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(Wav2Vec2)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47008" y="1701403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73959" y="1777603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 (ECAPA-TDNN)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47008" y="2047429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73959" y="2123629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위험도 판정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62216" y="920502"/>
            <a:ext cx="2573982" cy="1634877"/>
          </a:xfrm>
          <a:prstGeom prst="roundRect">
            <a:avLst>
              <a:gd name="adj" fmla="val 46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01640" y="1082427"/>
            <a:ext cx="22951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24141" y="1355378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1091" y="1431578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성문 DB (암호화)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24141" y="1701403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1091" y="1777603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이력 로그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24141" y="2047429"/>
            <a:ext cx="2250132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51091" y="2123629"/>
            <a:ext cx="2036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암호 관리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950" y="2733080"/>
            <a:ext cx="8128099" cy="1314301"/>
          </a:xfrm>
          <a:prstGeom prst="roundRect">
            <a:avLst>
              <a:gd name="adj" fmla="val 579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9875" y="2895005"/>
            <a:ext cx="7960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검증 프로세스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26220" y="32124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53270" y="33172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51699" y="3593455"/>
            <a:ext cx="18539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등록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1699" y="3771156"/>
            <a:ext cx="1853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음성 사전 등록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87513" y="344418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21707" y="32124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48758" y="33172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47187" y="3593455"/>
            <a:ext cx="18539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업로드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47187" y="3771156"/>
            <a:ext cx="1853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의심 음성 파일 업로드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83001" y="344418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17195" y="32124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544245" y="33172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42674" y="3593455"/>
            <a:ext cx="18539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42674" y="3771156"/>
            <a:ext cx="1853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+ 성문 검증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78488" y="344418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12682" y="32124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539733" y="33172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38162" y="3593455"/>
            <a:ext cx="18539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38162" y="3771156"/>
            <a:ext cx="1853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리포트 제공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 (Key Features)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1898749" cy="4019848"/>
          </a:xfrm>
          <a:prstGeom prst="roundRect">
            <a:avLst>
              <a:gd name="adj" fmla="val 53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939552"/>
            <a:ext cx="1898749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1937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4935587"/>
            <a:ext cx="189874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713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176" y="1136303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3621" y="1234678"/>
            <a:ext cx="503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1669554"/>
            <a:ext cx="1554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5176" y="1936254"/>
            <a:ext cx="155478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 기반 AI가 음성의 스펙트럼 아티팩트를 분석하여 합성 음성 여부를 판별합니다.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5176" y="2496443"/>
            <a:ext cx="1176635" cy="196751"/>
          </a:xfrm>
          <a:prstGeom prst="roundRect">
            <a:avLst>
              <a:gd name="adj" fmla="val 25819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1376" y="2547193"/>
            <a:ext cx="10447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 / HuggingFace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84400" y="920502"/>
            <a:ext cx="1898749" cy="4019848"/>
          </a:xfrm>
          <a:prstGeom prst="roundRect">
            <a:avLst>
              <a:gd name="adj" fmla="val 53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84400" y="939552"/>
            <a:ext cx="1898749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8387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84400" y="4935587"/>
            <a:ext cx="189874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89163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1626" y="1136303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84438" y="1234678"/>
            <a:ext cx="18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71626" y="1669554"/>
            <a:ext cx="1554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71626" y="1936254"/>
            <a:ext cx="155478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 모델로 등록된 가족의 성문(Voiceprint)과 비교하여 실제 가족인지 확인합니다.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71626" y="2496443"/>
            <a:ext cx="1306562" cy="196751"/>
          </a:xfrm>
          <a:prstGeom prst="roundRect">
            <a:avLst>
              <a:gd name="adj" fmla="val 25819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47826" y="2547193"/>
            <a:ext cx="1177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 / SpeechBrain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60850" y="920502"/>
            <a:ext cx="1898749" cy="4019848"/>
          </a:xfrm>
          <a:prstGeom prst="roundRect">
            <a:avLst>
              <a:gd name="adj" fmla="val 53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0850" y="939552"/>
            <a:ext cx="189874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4837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0850" y="4935587"/>
            <a:ext cx="189874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5613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8076" y="1136303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01667" y="123467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48076" y="1669554"/>
            <a:ext cx="1554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암호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8076" y="1936254"/>
            <a:ext cx="155478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약속된 암호 문구로 추가적인 본인 확인을 수행합니다. AI 분석 + 암호 확인 이중 검증.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8076" y="2490043"/>
            <a:ext cx="735062" cy="215801"/>
          </a:xfrm>
          <a:prstGeom prst="roundRect">
            <a:avLst>
              <a:gd name="adj" fmla="val 23540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24276" y="2540794"/>
            <a:ext cx="5943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인증 체계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737300" y="920502"/>
            <a:ext cx="1898749" cy="4019848"/>
          </a:xfrm>
          <a:prstGeom prst="roundRect">
            <a:avLst>
              <a:gd name="adj" fmla="val 53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737300" y="939552"/>
            <a:ext cx="1898749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31287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7300" y="4935587"/>
            <a:ext cx="189874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2063" y="920502"/>
            <a:ext cx="0" cy="4019848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24526" y="1136303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78117" y="123467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24526" y="1669554"/>
            <a:ext cx="1554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대시보드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24526" y="1936254"/>
            <a:ext cx="155478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결과를 시각화하여 위험도 게이지, 상세 리포트, 권장 조치를 한눈에 확인할 수 있습니다.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24526" y="2496443"/>
            <a:ext cx="980629" cy="196751"/>
          </a:xfrm>
          <a:prstGeom prst="roundRect">
            <a:avLst>
              <a:gd name="adj" fmla="val 25819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00726" y="2547193"/>
            <a:ext cx="84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Tailwind CSS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및 기술 (Data and Tech)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데이터셋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37952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339453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ASVspoof 2019/2021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0350" y="1498104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모델 학습/검증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1818680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1920180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VoxCeleb1/2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2078831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화자 검증 모델 학습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399407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2500908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DEEP-VOICE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350" y="2659559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복제 탐지 벤치마크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3030885"/>
            <a:ext cx="3937099" cy="650677"/>
          </a:xfrm>
          <a:prstGeom prst="roundRect">
            <a:avLst>
              <a:gd name="adj" fmla="val 117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157835"/>
            <a:ext cx="37568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처리 파이프라인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411736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8051" y="342602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9701" y="3411736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리샘플링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45853" y="342602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47502" y="3411736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특징추출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53654" y="342602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55304" y="3411736"/>
            <a:ext cx="305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AI분석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950" y="92050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98950" y="1237952"/>
            <a:ext cx="538311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9976" y="1298228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3462" y="1237952"/>
            <a:ext cx="583257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24488" y="1298228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72919" y="1237952"/>
            <a:ext cx="487412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83945" y="1298228"/>
            <a:ext cx="2706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6531" y="1237952"/>
            <a:ext cx="583257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47557" y="1298228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95989" y="1237952"/>
            <a:ext cx="703659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7014" y="1298228"/>
            <a:ext cx="491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98950" y="1549003"/>
            <a:ext cx="874663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9976" y="1609279"/>
            <a:ext cx="665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49813" y="1549003"/>
            <a:ext cx="826145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60839" y="1609279"/>
            <a:ext cx="616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52158" y="1549003"/>
            <a:ext cx="803523" cy="234851"/>
          </a:xfrm>
          <a:prstGeom prst="roundRect">
            <a:avLst>
              <a:gd name="adj" fmla="val 2163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63184" y="1609279"/>
            <a:ext cx="5931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SpeechBrain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98950" y="1936254"/>
            <a:ext cx="3937099" cy="1720007"/>
          </a:xfrm>
          <a:prstGeom prst="roundRect">
            <a:avLst>
              <a:gd name="adj" fmla="val 4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25901" y="2063204"/>
            <a:ext cx="37568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AI 모델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25901" y="2317105"/>
            <a:ext cx="3683198" cy="580727"/>
          </a:xfrm>
          <a:prstGeom prst="roundRect">
            <a:avLst>
              <a:gd name="adj" fmla="val 87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78301" y="2418606"/>
            <a:ext cx="3445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78301" y="2653457"/>
            <a:ext cx="3445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/ 스펙트럼 분석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25901" y="2948583"/>
            <a:ext cx="3683198" cy="580727"/>
          </a:xfrm>
          <a:prstGeom prst="roundRect">
            <a:avLst>
              <a:gd name="adj" fmla="val 87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78301" y="3050084"/>
            <a:ext cx="3445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78301" y="3284934"/>
            <a:ext cx="3445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화자 검증 / 192차원 임베딩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시나리오 (User Scenario)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95052"/>
            <a:ext cx="2082701" cy="4070747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047452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1269653"/>
            <a:ext cx="181345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김지영 (58세)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0350" y="1401663"/>
            <a:ext cx="181345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주부, 20대 아들 해외 유학중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0350" y="1609874"/>
            <a:ext cx="181345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니즈: 납치 사기 예방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93802" y="895052"/>
            <a:ext cx="5842248" cy="393502"/>
          </a:xfrm>
          <a:prstGeom prst="roundRect">
            <a:avLst>
              <a:gd name="adj" fmla="val 1291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55727" y="1006078"/>
            <a:ext cx="56287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시나리오: 해외 유학 중인 아들 사칭 사기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93802" y="1415504"/>
            <a:ext cx="1403449" cy="503188"/>
          </a:xfrm>
          <a:prstGeom prst="roundRect">
            <a:avLst>
              <a:gd name="adj" fmla="val 100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03327" y="1415504"/>
            <a:ext cx="0" cy="503188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4352" y="1517005"/>
            <a:ext cx="1205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사전 준비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14352" y="1710630"/>
            <a:ext cx="12050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Truth에 아들 음성 등록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73451" y="1415504"/>
            <a:ext cx="1403449" cy="503188"/>
          </a:xfrm>
          <a:prstGeom prst="roundRect">
            <a:avLst>
              <a:gd name="adj" fmla="val 10096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82976" y="1415504"/>
            <a:ext cx="0" cy="503188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4002" y="1517005"/>
            <a:ext cx="1205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사기 시도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94002" y="1710630"/>
            <a:ext cx="12050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"엄마 나야, 위험해" 음성 수신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753100" y="1415504"/>
            <a:ext cx="1403449" cy="503188"/>
          </a:xfrm>
          <a:prstGeom prst="roundRect">
            <a:avLst>
              <a:gd name="adj" fmla="val 100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762625" y="1415504"/>
            <a:ext cx="0" cy="503188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3651" y="1517005"/>
            <a:ext cx="1205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검증 수행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73651" y="1710630"/>
            <a:ext cx="12050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업로드, 10초 내 분석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232749" y="1415504"/>
            <a:ext cx="1403449" cy="503188"/>
          </a:xfrm>
          <a:prstGeom prst="roundRect">
            <a:avLst>
              <a:gd name="adj" fmla="val 100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242274" y="1415504"/>
            <a:ext cx="0" cy="503188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3300" y="1517005"/>
            <a:ext cx="1205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결과 확인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53300" y="1710630"/>
            <a:ext cx="12050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확률 + 성문 일치율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93802" y="2045643"/>
            <a:ext cx="5842248" cy="907852"/>
          </a:xfrm>
          <a:prstGeom prst="roundRect">
            <a:avLst>
              <a:gd name="adj" fmla="val 8393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930277" y="2182118"/>
            <a:ext cx="5680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 예시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4697" y="2410718"/>
            <a:ext cx="5691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24697" y="2702719"/>
            <a:ext cx="569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확률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86693" y="2410718"/>
            <a:ext cx="478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86693" y="2702719"/>
            <a:ext cx="478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일치율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363641" y="2436019"/>
            <a:ext cx="4218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조치: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63641" y="2604195"/>
            <a:ext cx="4218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영상통화 확인 2. 112 신고 3. 송금 금지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 및 확장성 (Expected Impact)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9505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12503"/>
            <a:ext cx="3937099" cy="593527"/>
          </a:xfrm>
          <a:prstGeom prst="roundRect">
            <a:avLst>
              <a:gd name="adj" fmla="val 12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212503"/>
            <a:ext cx="0" cy="5935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339453"/>
            <a:ext cx="361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사기 피해 50% 감소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3751" y="1536204"/>
            <a:ext cx="36144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탐지를 통한 피해 예방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907530"/>
            <a:ext cx="3937099" cy="593527"/>
          </a:xfrm>
          <a:prstGeom prst="roundRect">
            <a:avLst>
              <a:gd name="adj" fmla="val 12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907530"/>
            <a:ext cx="0" cy="5935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51" y="2034480"/>
            <a:ext cx="361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10만 건 음성 검증 처리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3751" y="2231231"/>
            <a:ext cx="36144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가능한 클라우드 인프라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2602557"/>
            <a:ext cx="3937099" cy="593527"/>
          </a:xfrm>
          <a:prstGeom prst="roundRect">
            <a:avLst>
              <a:gd name="adj" fmla="val 12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602557"/>
            <a:ext cx="0" cy="5935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2729508"/>
            <a:ext cx="361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취약계층 보호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3751" y="2926259"/>
            <a:ext cx="36144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고령층의 사기 불안감 해소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3297585"/>
            <a:ext cx="3937099" cy="593527"/>
          </a:xfrm>
          <a:prstGeom prst="roundRect">
            <a:avLst>
              <a:gd name="adj" fmla="val 12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297585"/>
            <a:ext cx="0" cy="5935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751" y="3424535"/>
            <a:ext cx="361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보안 강화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3751" y="3621286"/>
            <a:ext cx="36144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사칭 사기 방지 솔루션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98950" y="89505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확장 방향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8950" y="1212503"/>
            <a:ext cx="2190601" cy="545902"/>
          </a:xfrm>
          <a:prstGeom prst="roundRect">
            <a:avLst>
              <a:gd name="adj" fmla="val 9306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5426" y="1348978"/>
            <a:ext cx="1956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5426" y="1507629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금융기관/보험사 연동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98950" y="1859905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5426" y="1996380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통신사 연동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5426" y="2174081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탑재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698950" y="2526357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5426" y="2662833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확장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35426" y="2840534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98950" y="3192810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35426" y="3329285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5426" y="3506986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로컬 처리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98950" y="3884712"/>
            <a:ext cx="3937099" cy="698450"/>
          </a:xfrm>
          <a:prstGeom prst="roundRect">
            <a:avLst>
              <a:gd name="adj" fmla="val 1091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4743" y="4046637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4743" y="4268837"/>
            <a:ext cx="36855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가족을 지키는 딥페이크 음성 검증 서비스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Deep Truth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Truth - AI 딥페이크 음성 검증 서비스</dc:title>
  <dc:subject>피싱·스캠 예방을 위한 서비스 개발 경진대회</dc:subject>
  <dc:creator>Deep Truth Team</dc:creator>
  <cp:lastModifiedBy>Deep Truth Team</cp:lastModifiedBy>
  <cp:revision>1</cp:revision>
  <dcterms:created xsi:type="dcterms:W3CDTF">2026-01-18T07:16:29Z</dcterms:created>
  <dcterms:modified xsi:type="dcterms:W3CDTF">2026-01-18T07:16:29Z</dcterms:modified>
</cp:coreProperties>
</file>